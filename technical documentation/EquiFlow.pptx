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6" r:id="rId3"/>
    <p:sldId id="257" r:id="rId4"/>
    <p:sldId id="265" r:id="rId5"/>
    <p:sldId id="259" r:id="rId6"/>
    <p:sldId id="262" r:id="rId7"/>
    <p:sldId id="260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  <a:srgbClr val="00B4D8"/>
    <a:srgbClr val="DCE4EB"/>
    <a:srgbClr val="001642"/>
    <a:srgbClr val="022152"/>
    <a:srgbClr val="00153E"/>
    <a:srgbClr val="033587"/>
    <a:srgbClr val="FFFEFE"/>
    <a:srgbClr val="F4F8FD"/>
    <a:srgbClr val="F3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69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1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53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01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5B21-568A-14E7-DDF5-95B4F2FC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1C04E-2000-FB1D-AFF4-3C6F37AC1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333D7-CF3C-A18E-CA27-EF20DD04C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5F6D4-C9BC-05FC-6F88-4A9C6A3A0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0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976D2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46177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46177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EquiFlow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43891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Retrofit Hydraulic Digital Twin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Water Distribution Networks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00B4D8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Distribution Through Edge Intelligence, Leak Detection &amp; Predictive Analytics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462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EquiFlow  |  Team – Mind Flayers  |  Smart Cities Division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9601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976D2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960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976D2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23760" y="1508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20574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976D2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23760" y="2057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606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976D2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23760" y="2606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976D2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23760" y="3154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65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49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Water Distribution – Key Challenges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" y="914400"/>
            <a:ext cx="7991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water distribution networks face critical operational, equity, and sustainability challenges. Rapid urbanization combined with aging infrastructure has amplified these issues, creating an urgent need for smarter, cost-effective water management solutions.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4224528" cy="1536192"/>
          </a:xfrm>
          <a:prstGeom prst="roundRect">
            <a:avLst>
              <a:gd name="adj" fmla="val 5952"/>
            </a:avLst>
          </a:prstGeom>
          <a:solidFill>
            <a:srgbClr val="EBF5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38912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16459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Water Distribution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" y="1993392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Low-altitude zones receive excess pressure while high-altitude areas suffer inadequate supply.</a:t>
            </a:r>
            <a:endParaRPr lang="en-US" sz="11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in upper areas rely on expensive private tankers or supplementary pumps.</a:t>
            </a:r>
            <a:endParaRPr lang="en-US" sz="11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pipe networks cannot adapt to dynamic demand or topographic variation.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1572768"/>
            <a:ext cx="4224528" cy="1536192"/>
          </a:xfrm>
          <a:prstGeom prst="roundRect">
            <a:avLst>
              <a:gd name="adj" fmla="val 5952"/>
            </a:avLst>
          </a:prstGeom>
          <a:solidFill>
            <a:srgbClr val="FFFBEB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91456" y="1664208"/>
            <a:ext cx="43891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91456" y="16642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Pipeline Leakages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9502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Leakages often go undetected for weeks or months — causing significant water loss.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Non-Revenue Water (NRW) exceeds 30–50% in many Indian cities due to physical losses.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detection (acoustic sensors, tracer gas) is expensive and episodic.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273552"/>
            <a:ext cx="4224528" cy="1536192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364992"/>
            <a:ext cx="438912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3649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33467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 Modernization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" y="3694176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smart-water upgrades require pipeline excavation and replacement.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pipeline projects cost ₹2–5 crore; city-wide programs run into hundreds of crores.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civil timelines cause road closures, public disruption, and delays.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1728" y="3273552"/>
            <a:ext cx="4224528" cy="1536192"/>
          </a:xfrm>
          <a:prstGeom prst="roundRect">
            <a:avLst>
              <a:gd name="adj" fmla="val 5952"/>
            </a:avLst>
          </a:prstGeom>
          <a:solidFill>
            <a:srgbClr val="F5F3FF"/>
          </a:solidFill>
          <a:ln w="6350">
            <a:solidFill>
              <a:srgbClr val="C8D8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91456" y="3364992"/>
            <a:ext cx="438912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91456" y="33649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33467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Predictive Intelligence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689604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operate reactively — responding only after failures occur.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forecast water-stressed or surplus zones before issues arise.</a:t>
            </a:r>
            <a:endParaRPr lang="en-US" sz="1200" dirty="0"/>
          </a:p>
          <a:p>
            <a:pPr marL="342900" indent="-34290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data-driven demand analysis leads to inefficient resource allocation.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F305D7F-127F-02D6-9679-AD34FE3BC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53" y="782275"/>
            <a:ext cx="817925" cy="817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">
            <a:extLst>
              <a:ext uri="{FF2B5EF4-FFF2-40B4-BE49-F238E27FC236}">
                <a16:creationId xmlns:a16="http://schemas.microsoft.com/office/drawing/2014/main" id="{6E71740D-7BDD-2BFA-5192-76AE3A042AD1}"/>
              </a:ext>
            </a:extLst>
          </p:cNvPr>
          <p:cNvSpPr/>
          <p:nvPr/>
        </p:nvSpPr>
        <p:spPr>
          <a:xfrm>
            <a:off x="256032" y="899161"/>
            <a:ext cx="8650224" cy="608076"/>
          </a:xfrm>
          <a:prstGeom prst="roundRect">
            <a:avLst>
              <a:gd name="adj" fmla="val 11429"/>
            </a:avLst>
          </a:prstGeom>
          <a:solidFill>
            <a:srgbClr val="0D2137"/>
          </a:solidFill>
          <a:ln w="762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EquiFlow is an IoT-enabled Retrofit Hydraulic Digital Twin that modernizes existing water distribution networks without excavation or pipeline replacement. It overlays sensing, edge intelligence, communication, automated actuation, and cloud analytics onto existing infrastructure — creating a live digital mirror of the physical network.</a:t>
            </a:r>
            <a:endParaRPr lang="en-US" sz="1100" dirty="0"/>
          </a:p>
          <a:p>
            <a:endParaRPr lang="en-IN" sz="11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– EquiFlow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49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Retrofit Hydraulic Digital Twin for Smart Water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661161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365760" y="1752601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75260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44752" y="173431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Flow Sensor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008633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 and outlet flow meters, pressure sensors, TDS and chlorine sensors installed at every zone node. Non-invasive clamp-on installation — no pipe cutting required. Data sampled at configurable 1-second to 5-minute intervals.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661161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91456" y="1752601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4791456" y="175260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70448" y="173431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3-Condition Leak Detection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91456" y="2008633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IN" sz="1100" dirty="0">
                <a:solidFill>
                  <a:srgbClr val="8BB8D0"/>
                </a:solidFill>
              </a:rPr>
              <a:t>Continuous monitoring using a 3-condition validation logic that analyzes flow behavior, persistence patterns, and operational context to identify potential leakages while minimizing false alerts.</a:t>
            </a:r>
            <a:endParaRPr lang="en-US" sz="1100" dirty="0">
              <a:solidFill>
                <a:srgbClr val="8BB8D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2831593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923033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9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92303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752" y="290474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Servo Valve Regulation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179065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butterfly valves at junction nodes receive real-time control signals from the Edge Control Node. Dynamically throttle low-altitude zones and boost high-altitude supply. Autonomous, semi-auto, and manual modes supported.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1728" y="2831593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91456" y="2923033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91456" y="292303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290474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STM32 Edge Node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3179065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for leak detection, sensor validation, threshold logic, and valve control decisions. Critical operations execute on-device — fully functional during communication outages. AES-128 encrypted LoRaWAN packet assembly.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002025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4093465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409346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44752" y="407517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Digital Twin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349497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GIS-based React.js + Mapbox GL JS dashboard shows live network state: zone pressures, flow rates, leak flags, and valve positions overlaid on actual pipeline geography. Historical analytics and AI zone health scores surfaced in context.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4002025"/>
            <a:ext cx="4224528" cy="1078992"/>
          </a:xfrm>
          <a:prstGeom prst="roundRect">
            <a:avLst>
              <a:gd name="adj" fmla="val 6780"/>
            </a:avLst>
          </a:prstGeom>
          <a:solidFill>
            <a:srgbClr val="0C1E35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91456" y="4093465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91456" y="409346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SCADA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407517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Zone Analysis &amp; SCADA Integration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91456" y="4349497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historical sensor data predict water-stressed and surplus zones before problems manifest. Native SCADA integration via REST APIs and Modbus TCP/IP — EquiFlow augments existing control infrastructure without replacing 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ECE8A47-0314-91CB-6D17-EAC2758E269C}"/>
              </a:ext>
            </a:extLst>
          </p:cNvPr>
          <p:cNvSpPr/>
          <p:nvPr/>
        </p:nvSpPr>
        <p:spPr>
          <a:xfrm>
            <a:off x="6401321" y="4142401"/>
            <a:ext cx="2536090" cy="522729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-71595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91968" y="754380"/>
            <a:ext cx="3108960" cy="4160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91028" y="822960"/>
            <a:ext cx="292608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84348" y="4937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3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EquiFlow System Architecture</a:t>
            </a:r>
            <a:endParaRPr lang="en-US" sz="1050" dirty="0">
              <a:solidFill>
                <a:srgbClr val="033587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97C42A5-F7DD-1559-9D75-CBABC475DFFE}"/>
              </a:ext>
            </a:extLst>
          </p:cNvPr>
          <p:cNvSpPr/>
          <p:nvPr/>
        </p:nvSpPr>
        <p:spPr>
          <a:xfrm>
            <a:off x="6332220" y="777240"/>
            <a:ext cx="2674292" cy="4160520"/>
          </a:xfrm>
          <a:prstGeom prst="roundRect">
            <a:avLst>
              <a:gd name="adj" fmla="val 2381"/>
            </a:avLst>
          </a:prstGeom>
          <a:solidFill>
            <a:srgbClr val="F4F8FD"/>
          </a:solidFill>
          <a:ln>
            <a:solidFill>
              <a:srgbClr val="022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Single Corner Rounded 41">
            <a:extLst>
              <a:ext uri="{FF2B5EF4-FFF2-40B4-BE49-F238E27FC236}">
                <a16:creationId xmlns:a16="http://schemas.microsoft.com/office/drawing/2014/main" id="{F9B16D54-57D9-2CB8-06DE-2FBDB2FF4EC4}"/>
              </a:ext>
            </a:extLst>
          </p:cNvPr>
          <p:cNvSpPr/>
          <p:nvPr/>
        </p:nvSpPr>
        <p:spPr>
          <a:xfrm>
            <a:off x="7193280" y="777240"/>
            <a:ext cx="1813232" cy="236280"/>
          </a:xfrm>
          <a:prstGeom prst="round1Rect">
            <a:avLst>
              <a:gd name="adj" fmla="val 30620"/>
            </a:avLst>
          </a:prstGeom>
          <a:solidFill>
            <a:srgbClr val="0016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Single Corner Rounded 42">
            <a:extLst>
              <a:ext uri="{FF2B5EF4-FFF2-40B4-BE49-F238E27FC236}">
                <a16:creationId xmlns:a16="http://schemas.microsoft.com/office/drawing/2014/main" id="{CF8D88B6-C67D-224B-712F-8423D6E7DA5D}"/>
              </a:ext>
            </a:extLst>
          </p:cNvPr>
          <p:cNvSpPr/>
          <p:nvPr/>
        </p:nvSpPr>
        <p:spPr>
          <a:xfrm flipH="1">
            <a:off x="6332220" y="777241"/>
            <a:ext cx="990600" cy="236280"/>
          </a:xfrm>
          <a:prstGeom prst="round1Rect">
            <a:avLst>
              <a:gd name="adj" fmla="val 23388"/>
            </a:avLst>
          </a:prstGeom>
          <a:solidFill>
            <a:srgbClr val="0015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BE61B9-FB3A-CF9B-96EB-6846F262D541}"/>
              </a:ext>
            </a:extLst>
          </p:cNvPr>
          <p:cNvSpPr txBox="1"/>
          <p:nvPr/>
        </p:nvSpPr>
        <p:spPr>
          <a:xfrm>
            <a:off x="6931102" y="752358"/>
            <a:ext cx="1479801" cy="27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TECHNOLOGY STACK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6D5CB0E-31F6-6DA9-F973-BDB3607412D4}"/>
              </a:ext>
            </a:extLst>
          </p:cNvPr>
          <p:cNvSpPr/>
          <p:nvPr/>
        </p:nvSpPr>
        <p:spPr>
          <a:xfrm>
            <a:off x="6401321" y="1119138"/>
            <a:ext cx="2536090" cy="522728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831543D-3F0C-8FB0-FBEC-E789390C02C2}"/>
              </a:ext>
            </a:extLst>
          </p:cNvPr>
          <p:cNvSpPr/>
          <p:nvPr/>
        </p:nvSpPr>
        <p:spPr>
          <a:xfrm>
            <a:off x="6386930" y="1713332"/>
            <a:ext cx="2536090" cy="522728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AD40A15-29D2-ED1E-9149-134A8518AD9B}"/>
              </a:ext>
            </a:extLst>
          </p:cNvPr>
          <p:cNvSpPr/>
          <p:nvPr/>
        </p:nvSpPr>
        <p:spPr>
          <a:xfrm>
            <a:off x="6397802" y="2304771"/>
            <a:ext cx="2536090" cy="522729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BB4A161-827A-7846-1207-E10CB214CE01}"/>
              </a:ext>
            </a:extLst>
          </p:cNvPr>
          <p:cNvSpPr/>
          <p:nvPr/>
        </p:nvSpPr>
        <p:spPr>
          <a:xfrm>
            <a:off x="6401321" y="2892134"/>
            <a:ext cx="2536090" cy="522728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90F7B1E-B094-1D09-736A-629422621517}"/>
              </a:ext>
            </a:extLst>
          </p:cNvPr>
          <p:cNvSpPr/>
          <p:nvPr/>
        </p:nvSpPr>
        <p:spPr>
          <a:xfrm>
            <a:off x="6397802" y="3494758"/>
            <a:ext cx="2536090" cy="522729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55E509A-392F-5BA0-6216-109590384D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60" t="18643" r="15108" b="73626"/>
          <a:stretch>
            <a:fillRect/>
          </a:stretch>
        </p:blipFill>
        <p:spPr>
          <a:xfrm>
            <a:off x="6429025" y="1205139"/>
            <a:ext cx="1284052" cy="38850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A3C4448-9E82-0BF8-2D4B-21FA6DA914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818" t="29810" r="14158" b="62666"/>
          <a:stretch>
            <a:fillRect/>
          </a:stretch>
        </p:blipFill>
        <p:spPr>
          <a:xfrm>
            <a:off x="6488882" y="1769509"/>
            <a:ext cx="1283418" cy="37813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05CBDD1-4ECD-5565-23BD-8F40AEA9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558" t="41543" r="13419" b="51440"/>
          <a:stretch>
            <a:fillRect/>
          </a:stretch>
        </p:blipFill>
        <p:spPr>
          <a:xfrm>
            <a:off x="6503912" y="2337216"/>
            <a:ext cx="1283418" cy="3526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8D681C2-C545-C972-D855-26DB78DC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57" t="53509" r="14617" b="38382"/>
          <a:stretch>
            <a:fillRect/>
          </a:stretch>
        </p:blipFill>
        <p:spPr>
          <a:xfrm>
            <a:off x="6459719" y="2935871"/>
            <a:ext cx="1253358" cy="40755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A61CA13-A907-3DCC-7969-6D393F18A9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935" t="64339" r="13452" b="26251"/>
          <a:stretch>
            <a:fillRect/>
          </a:stretch>
        </p:blipFill>
        <p:spPr>
          <a:xfrm>
            <a:off x="6459719" y="3519639"/>
            <a:ext cx="1403132" cy="472966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E5908D-A643-7127-AA36-F57CD3B5C597}"/>
              </a:ext>
            </a:extLst>
          </p:cNvPr>
          <p:cNvSpPr/>
          <p:nvPr/>
        </p:nvSpPr>
        <p:spPr>
          <a:xfrm>
            <a:off x="6401321" y="4089082"/>
            <a:ext cx="2536090" cy="522729"/>
          </a:xfrm>
          <a:prstGeom prst="roundRect">
            <a:avLst/>
          </a:prstGeom>
          <a:solidFill>
            <a:srgbClr val="FFFEFE"/>
          </a:solidFill>
          <a:ln>
            <a:solidFill>
              <a:srgbClr val="DCE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EA47E97-0222-D91B-2C4D-9450529CCA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651" t="77324" r="15664" b="14910"/>
          <a:stretch>
            <a:fillRect/>
          </a:stretch>
        </p:blipFill>
        <p:spPr>
          <a:xfrm>
            <a:off x="6459719" y="4142401"/>
            <a:ext cx="1182414" cy="390310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226B74C-7424-70B2-2B61-7D3E78F6CC58}"/>
              </a:ext>
            </a:extLst>
          </p:cNvPr>
          <p:cNvCxnSpPr>
            <a:cxnSpLocks/>
          </p:cNvCxnSpPr>
          <p:nvPr/>
        </p:nvCxnSpPr>
        <p:spPr>
          <a:xfrm>
            <a:off x="7854133" y="1187566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B9CAF56-2874-7BED-773E-A4435FABB0D5}"/>
              </a:ext>
            </a:extLst>
          </p:cNvPr>
          <p:cNvCxnSpPr>
            <a:cxnSpLocks/>
          </p:cNvCxnSpPr>
          <p:nvPr/>
        </p:nvCxnSpPr>
        <p:spPr>
          <a:xfrm>
            <a:off x="7854133" y="1793158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2D66360-1B8F-30B6-A880-74B1CA8EC771}"/>
              </a:ext>
            </a:extLst>
          </p:cNvPr>
          <p:cNvCxnSpPr>
            <a:cxnSpLocks/>
          </p:cNvCxnSpPr>
          <p:nvPr/>
        </p:nvCxnSpPr>
        <p:spPr>
          <a:xfrm>
            <a:off x="7854133" y="2385088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396873C-CADF-D0E4-58A8-BE6CF3949CD5}"/>
              </a:ext>
            </a:extLst>
          </p:cNvPr>
          <p:cNvCxnSpPr>
            <a:cxnSpLocks/>
          </p:cNvCxnSpPr>
          <p:nvPr/>
        </p:nvCxnSpPr>
        <p:spPr>
          <a:xfrm>
            <a:off x="7854133" y="2973316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2980DB2-7501-021B-18C6-A560A8F0689F}"/>
              </a:ext>
            </a:extLst>
          </p:cNvPr>
          <p:cNvCxnSpPr>
            <a:cxnSpLocks/>
          </p:cNvCxnSpPr>
          <p:nvPr/>
        </p:nvCxnSpPr>
        <p:spPr>
          <a:xfrm>
            <a:off x="7860501" y="3583084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EB4154-F6A6-7A55-4427-7E6EDC3C829E}"/>
              </a:ext>
            </a:extLst>
          </p:cNvPr>
          <p:cNvCxnSpPr>
            <a:cxnSpLocks/>
          </p:cNvCxnSpPr>
          <p:nvPr/>
        </p:nvCxnSpPr>
        <p:spPr>
          <a:xfrm>
            <a:off x="7857316" y="4146839"/>
            <a:ext cx="0" cy="38587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B386EF2-F77E-B263-B514-71DDCF88E58F}"/>
              </a:ext>
            </a:extLst>
          </p:cNvPr>
          <p:cNvSpPr txBox="1"/>
          <p:nvPr/>
        </p:nvSpPr>
        <p:spPr>
          <a:xfrm>
            <a:off x="7808356" y="1197496"/>
            <a:ext cx="107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033587"/>
                </a:solidFill>
              </a:rPr>
              <a:t>Real time dashboard with UI component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87D542-DA66-68FA-CDC1-A60CB60BA20F}"/>
              </a:ext>
            </a:extLst>
          </p:cNvPr>
          <p:cNvSpPr txBox="1"/>
          <p:nvPr/>
        </p:nvSpPr>
        <p:spPr>
          <a:xfrm>
            <a:off x="7815976" y="1730093"/>
            <a:ext cx="107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800" b="1" dirty="0">
                <a:solidFill>
                  <a:srgbClr val="033587"/>
                </a:solidFill>
              </a:rPr>
              <a:t>High-performance REST API for Data and Services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E95C9C-61DD-A76E-ACC4-A9E539275A8C}"/>
              </a:ext>
            </a:extLst>
          </p:cNvPr>
          <p:cNvSpPr txBox="1"/>
          <p:nvPr/>
        </p:nvSpPr>
        <p:spPr>
          <a:xfrm>
            <a:off x="277867" y="352010"/>
            <a:ext cx="42941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Selection Across Every Layer</a:t>
            </a:r>
            <a:endParaRPr lang="en-US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B18373-F393-3B3A-4E2E-4E720D828041}"/>
              </a:ext>
            </a:extLst>
          </p:cNvPr>
          <p:cNvSpPr txBox="1"/>
          <p:nvPr/>
        </p:nvSpPr>
        <p:spPr>
          <a:xfrm>
            <a:off x="7813086" y="2343697"/>
            <a:ext cx="1315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033587"/>
                </a:solidFill>
              </a:rPr>
              <a:t>Real-time database, authentication, and live data synchronization.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42ABDB-039C-59AA-0093-B960BAD6F8D6}"/>
              </a:ext>
            </a:extLst>
          </p:cNvPr>
          <p:cNvSpPr txBox="1"/>
          <p:nvPr/>
        </p:nvSpPr>
        <p:spPr>
          <a:xfrm>
            <a:off x="7815976" y="2965583"/>
            <a:ext cx="1091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>
                <a:solidFill>
                  <a:srgbClr val="033587"/>
                </a:solidFill>
              </a:rPr>
              <a:t>GIS-based maps and visualization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0E34EE-B6F8-F1A9-B01B-8D12C3EA894B}"/>
              </a:ext>
            </a:extLst>
          </p:cNvPr>
          <p:cNvSpPr txBox="1"/>
          <p:nvPr/>
        </p:nvSpPr>
        <p:spPr>
          <a:xfrm>
            <a:off x="7831548" y="3539775"/>
            <a:ext cx="132036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50" b="1" dirty="0">
                <a:solidFill>
                  <a:srgbClr val="033587"/>
                </a:solidFill>
              </a:rPr>
              <a:t>Long-range, low-power, encrypted wireless communication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BF251E-0A23-433A-BEAC-287F0DD93D23}"/>
              </a:ext>
            </a:extLst>
          </p:cNvPr>
          <p:cNvSpPr txBox="1"/>
          <p:nvPr/>
        </p:nvSpPr>
        <p:spPr>
          <a:xfrm>
            <a:off x="7824122" y="4127137"/>
            <a:ext cx="121392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50" b="1" dirty="0">
                <a:solidFill>
                  <a:srgbClr val="033587"/>
                </a:solidFill>
              </a:rPr>
              <a:t>On-Device Intelligence,</a:t>
            </a:r>
          </a:p>
          <a:p>
            <a:r>
              <a:rPr lang="en-IN" sz="750" b="1" dirty="0">
                <a:solidFill>
                  <a:srgbClr val="033587"/>
                </a:solidFill>
              </a:rPr>
              <a:t>local control &amp; </a:t>
            </a:r>
          </a:p>
          <a:p>
            <a:r>
              <a:rPr lang="en-IN" sz="750" b="1" dirty="0">
                <a:solidFill>
                  <a:srgbClr val="033587"/>
                </a:solidFill>
              </a:rPr>
              <a:t>Valve Actuation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54648BD-9F1A-E856-A0AB-4239BECE08E5}"/>
              </a:ext>
            </a:extLst>
          </p:cNvPr>
          <p:cNvCxnSpPr>
            <a:cxnSpLocks/>
          </p:cNvCxnSpPr>
          <p:nvPr/>
        </p:nvCxnSpPr>
        <p:spPr>
          <a:xfrm>
            <a:off x="6125804" y="823312"/>
            <a:ext cx="0" cy="411444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96FD7E6-82D5-AC1E-8C0D-009710CC5A90}"/>
              </a:ext>
            </a:extLst>
          </p:cNvPr>
          <p:cNvSpPr txBox="1"/>
          <p:nvPr/>
        </p:nvSpPr>
        <p:spPr>
          <a:xfrm>
            <a:off x="60961" y="980424"/>
            <a:ext cx="2677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Real-Time Leak Detection:</a:t>
            </a:r>
          </a:p>
          <a:p>
            <a:pPr algn="just"/>
            <a:r>
              <a:rPr lang="en-IN" sz="900" dirty="0"/>
              <a:t>Continuously monitors network conditions to identify potential leakages and abnormal flow patterns.</a:t>
            </a:r>
          </a:p>
          <a:p>
            <a:endParaRPr lang="en-IN" sz="9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Smart Flow Regulation:</a:t>
            </a:r>
          </a:p>
          <a:p>
            <a:pPr algn="just"/>
            <a:r>
              <a:rPr lang="en-IN" sz="900" dirty="0"/>
              <a:t>Automatically regulates valve operations to maintain balanced water distribution across zones.</a:t>
            </a:r>
          </a:p>
          <a:p>
            <a:endParaRPr lang="en-IN" sz="900" b="1" dirty="0">
              <a:solidFill>
                <a:srgbClr val="00164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Digital Twin Monitoring:</a:t>
            </a:r>
          </a:p>
          <a:p>
            <a:pPr algn="just"/>
            <a:r>
              <a:rPr lang="en-IN" sz="900" dirty="0"/>
              <a:t>Provides a live digital view of the entire water distribution network for real-time monitoring.</a:t>
            </a:r>
          </a:p>
          <a:p>
            <a:endParaRPr lang="en-IN" sz="1200" b="1" dirty="0">
              <a:solidFill>
                <a:srgbClr val="00164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SCADA Compatibility:</a:t>
            </a:r>
          </a:p>
          <a:p>
            <a:pPr algn="just"/>
            <a:r>
              <a:rPr lang="en-IN" sz="900" dirty="0"/>
              <a:t>Integrates seamlessly with existing supervisory and control systems without replacement.</a:t>
            </a:r>
          </a:p>
          <a:p>
            <a:endParaRPr lang="en-IN" sz="900" b="1" dirty="0">
              <a:solidFill>
                <a:srgbClr val="00164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AI-Based Zone Analysis:</a:t>
            </a:r>
          </a:p>
          <a:p>
            <a:pPr algn="just"/>
            <a:r>
              <a:rPr lang="en-IN" sz="900" dirty="0"/>
              <a:t>Analyzes operational data to identify potential water-stressed and surplus regions.</a:t>
            </a:r>
          </a:p>
          <a:p>
            <a:pPr algn="just"/>
            <a:endParaRPr lang="en-IN" sz="900" b="1" dirty="0">
              <a:solidFill>
                <a:srgbClr val="00164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rgbClr val="001642"/>
                </a:solidFill>
              </a:rPr>
              <a:t>Zero-Excavation Retrofit:</a:t>
            </a:r>
          </a:p>
          <a:p>
            <a:pPr algn="just"/>
            <a:r>
              <a:rPr lang="en-IN" sz="900" dirty="0"/>
              <a:t>Enables rapid deployment without pipeline replacement or excavation work.</a:t>
            </a:r>
            <a:endParaRPr lang="en-IN" sz="900" b="1" dirty="0">
              <a:solidFill>
                <a:srgbClr val="0016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07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49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 Across Social, Operational, and Environmental Dimensions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0058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9875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Water Access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12435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Inter-zone supply variation reduced to ≤10% from 40–60%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481328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valve balancing redistributes flow to high-altitude zones continuously.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dependence on private water tankers — saving ₹2,000–5,000/month per household in deficit areas.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pressure monitoring ensures service reliability across all zones equally.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2860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889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" y="237744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F9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3774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2359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" y="26151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reduced by 20–30% within Year 1 of deployment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852928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leak detection identifies events within 15–30 minutes vs weeks in current systems.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100 MLD network at 35% NRW: 7 million litres/day recovered — saving ≈₹1.28 cr/year in treatment costs.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and chlorine monitoring prevents quality-driven supply shutdowns.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36576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889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7472" y="374904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37307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Modernization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" y="39867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 20–30% of traditional SCADA/pipeline replacement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4224528"/>
            <a:ext cx="3950208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ward-level EquiFlow deployment (30 zones): ₹25–50 lakhs vs ₹2–5 crore conventional.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excavation: no road closures, no civil permits, deployment in 2–3 days per zone.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27448" y="9144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18888" y="100584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18888" y="10058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76088" y="9875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Resource Planning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122834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zone management — stress predicted weeks in advance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18888" y="1481328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identify trending water-stressed zones before supply deficit manifests.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consumption analysis enables demand-side planning and supply reallocation.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27448" y="22860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889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18888" y="237744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E87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18888" y="23774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76088" y="2359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&amp; Municipal Efficiency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18888" y="26151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monitoring area per operator: 10x improvement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852928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control room team manages entire ward network with automated alerts.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ICCC (Integrated Command &amp; Control Centre) via open APIs.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reports auto-generated from historical analytics data.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7448" y="3675888"/>
            <a:ext cx="4160520" cy="1307592"/>
          </a:xfrm>
          <a:prstGeom prst="roundRect">
            <a:avLst>
              <a:gd name="adj" fmla="val 6993"/>
            </a:avLst>
          </a:prstGeom>
          <a:solidFill>
            <a:srgbClr val="081220"/>
          </a:solidFill>
          <a:ln w="762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18888" y="37307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at a Glance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27448" y="3977640"/>
          <a:ext cx="4160520" cy="9220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Society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 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CC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Smart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072896"/>
            <a:ext cx="493776" cy="457200"/>
          </a:xfrm>
          <a:prstGeom prst="ellipse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1141476"/>
            <a:ext cx="269748" cy="2697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5548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Leak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5548" y="1330452"/>
            <a:ext cx="3166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inlet–outlet flow, travel-time &amp; pressure-drop analysis to minimize false positives.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842141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4754880" y="1001268"/>
            <a:ext cx="548640" cy="548640"/>
          </a:xfrm>
          <a:prstGeom prst="ellipse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364" y="105689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932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Altitude Balancing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6776" y="1303020"/>
            <a:ext cx="3313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Servo-controlled valve intelligently equalizes supply to higher-altitude zones — no extra pumps.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048256"/>
            <a:ext cx="4242485" cy="1106424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84048" y="2185416"/>
            <a:ext cx="548640" cy="548640"/>
          </a:xfrm>
          <a:prstGeom prst="ellipse">
            <a:avLst/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24028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167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Decision Making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34533" y="2528157"/>
            <a:ext cx="32964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&amp; emergency isolation execute locally on ESP32 — resilient to network outages.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075688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8B5C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773168" y="2185416"/>
            <a:ext cx="548640" cy="548640"/>
          </a:xfrm>
          <a:prstGeom prst="ellipse">
            <a:avLst/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24028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167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Zone Analysis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49492" y="2496312"/>
            <a:ext cx="33561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historical data identifies water-stressed &amp; surplus zones for proactive planning.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74320" y="3310128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EF444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84048" y="3419856"/>
            <a:ext cx="548640" cy="548640"/>
          </a:xfrm>
          <a:prstGeom prst="ellipse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47472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401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Digital Twin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51560" y="370179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live digital mirror of the physical water network — no excavation or replacement.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63440" y="3310128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0A1E33"/>
          </a:solidFill>
          <a:ln w="19050">
            <a:solidFill>
              <a:srgbClr val="E879F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773168" y="3419856"/>
            <a:ext cx="548640" cy="548640"/>
          </a:xfrm>
          <a:prstGeom prst="ellipse">
            <a:avLst/>
          </a:prstGeom>
          <a:solidFill>
            <a:srgbClr val="E879F9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47472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401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SCADA-Compatible &amp; Scalable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31536" y="3718560"/>
            <a:ext cx="3483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integrates with existing SCADA systems — from housing to municipality scale.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274320" y="4553712"/>
            <a:ext cx="8595360" cy="411480"/>
          </a:xfrm>
          <a:prstGeom prst="roundRect">
            <a:avLst>
              <a:gd name="adj" fmla="val 17778"/>
            </a:avLst>
          </a:prstGeom>
          <a:solidFill>
            <a:schemeClr val="bg1">
              <a:alpha val="80000"/>
            </a:schemeClr>
          </a:solidFill>
          <a:ln w="63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  ·  Zero Excavation  ·  Low Cost  ·  SCADA Ready  ·  AI-Powered  ·  City-Scalable</a:t>
            </a:r>
            <a:endParaRPr lang="en-US" sz="1100" dirty="0">
              <a:solidFill>
                <a:srgbClr val="0A1628"/>
              </a:solidFill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8673ECD6-8805-53F9-48C7-66443A96CC80}"/>
              </a:ext>
            </a:extLst>
          </p:cNvPr>
          <p:cNvSpPr/>
          <p:nvPr/>
        </p:nvSpPr>
        <p:spPr>
          <a:xfrm>
            <a:off x="347472" y="53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i="1" dirty="0">
                <a:solidFill>
                  <a:srgbClr val="00B0F0"/>
                </a:solidFill>
              </a:rPr>
              <a:t>Transforming conventional water networks into intelligent, data-driven, and sustainable </a:t>
            </a:r>
            <a:r>
              <a:rPr lang="en-IN" sz="1100" i="1" dirty="0">
                <a:solidFill>
                  <a:srgbClr val="00B4D8"/>
                </a:solidFill>
              </a:rPr>
              <a:t>infrastructure</a:t>
            </a:r>
            <a:r>
              <a:rPr lang="en-IN" sz="1100" i="1" dirty="0">
                <a:solidFill>
                  <a:srgbClr val="00B0F0"/>
                </a:solidFill>
              </a:rPr>
              <a:t>.</a:t>
            </a:r>
          </a:p>
          <a:p>
            <a:pPr marL="0" indent="0">
              <a:buNone/>
            </a:pPr>
            <a:endParaRPr lang="en-US" sz="11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23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800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Implementation Plan from Prototype to Municipal Deployment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4825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048256" cy="292608"/>
          </a:xfrm>
          <a:prstGeom prst="roundRect">
            <a:avLst>
              <a:gd name="adj" fmla="val 31250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2048256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" y="932688"/>
            <a:ext cx="11265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932688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1234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Hardware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1487424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sensor selection: flow, pressure, TDS, chlorine meters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ESP32/STM32 edge node firmware architecture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non-invasive sensor mounting for all pipe materials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electrical interface schematics (RS-485, 4-20mA, pulse)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14016" y="914400"/>
            <a:ext cx="204825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14016" y="914400"/>
            <a:ext cx="2048256" cy="292608"/>
          </a:xfrm>
          <a:prstGeom prst="roundRect">
            <a:avLst>
              <a:gd name="adj" fmla="val 31250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14016" y="1078992"/>
            <a:ext cx="2048256" cy="128016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87168" y="932688"/>
            <a:ext cx="11265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14016" y="932688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87168" y="1234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 Deployment &amp; Data Acquisition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1522476"/>
            <a:ext cx="1901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dual flow sensors, pressure and quality sensors at testbed site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 under operational conditions (vibration, temperature, EMI)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filtering algorithms based on real-world noise profiles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914400"/>
            <a:ext cx="204825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0" y="914400"/>
            <a:ext cx="2048256" cy="292608"/>
          </a:xfrm>
          <a:prstGeom prst="roundRect">
            <a:avLst>
              <a:gd name="adj" fmla="val 3125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0" y="1078992"/>
            <a:ext cx="2048256" cy="1280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45152" y="932688"/>
            <a:ext cx="11265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932688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5152" y="1234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Communication Setup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26864" y="1467612"/>
            <a:ext cx="201168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LoRaWAN gateways at strategic elevated locations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AES-128 network session key and application session key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packet loss, latency, and power consumption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penetration through building materials and underground environments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29984" y="914400"/>
            <a:ext cx="204825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729984" y="914400"/>
            <a:ext cx="2048256" cy="292608"/>
          </a:xfrm>
          <a:prstGeom prst="roundRect">
            <a:avLst>
              <a:gd name="adj" fmla="val 3125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729984" y="1078992"/>
            <a:ext cx="2048256" cy="12801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03136" y="932688"/>
            <a:ext cx="11265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9984" y="932688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03136" y="1234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Dashboard Development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00088" y="1431036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React.js components: sensor panels, alerts, zone health indicators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Mapbox GL JS with GIS pipeline network data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data binding via Firebase / WebSocket streams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valve control interface and historical trend views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2999232"/>
            <a:ext cx="27675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56032" y="2999232"/>
            <a:ext cx="2767584" cy="292608"/>
          </a:xfrm>
          <a:prstGeom prst="roundRect">
            <a:avLst>
              <a:gd name="adj" fmla="val 3125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56032" y="3163824"/>
            <a:ext cx="2767584" cy="12801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9184" y="3017520"/>
            <a:ext cx="15221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6032" y="3017520"/>
            <a:ext cx="2694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184" y="3319272"/>
            <a:ext cx="262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Integration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47472" y="3605784"/>
            <a:ext cx="262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zone health models on accumulated sensor data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demand forecasting and leak probability predictors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zone health scores and alerts into dashboard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compliance report generation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33344" y="2999232"/>
            <a:ext cx="27675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0F9D5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133344" y="2999232"/>
            <a:ext cx="2767584" cy="292608"/>
          </a:xfrm>
          <a:prstGeom prst="roundRect">
            <a:avLst>
              <a:gd name="adj" fmla="val 31250"/>
            </a:avLst>
          </a:prstGeom>
          <a:solidFill>
            <a:srgbClr val="0F9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133344" y="3163824"/>
            <a:ext cx="2767584" cy="128016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6496" y="3017520"/>
            <a:ext cx="15221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33344" y="3017520"/>
            <a:ext cx="2694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6496" y="3319272"/>
            <a:ext cx="262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 &amp; Validation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06496" y="3561588"/>
            <a:ext cx="262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 live pilot at real-world testbed with full system integration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Stress-test: simultaneous multi-zone alerts, gateway failure, power interruption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operator and administrator feedback; refine UX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performance: detection sensitivity, false-positive rate, availability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10656" y="2999232"/>
            <a:ext cx="27675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010656" y="2999232"/>
            <a:ext cx="2767584" cy="292608"/>
          </a:xfrm>
          <a:prstGeom prst="roundRect">
            <a:avLst>
              <a:gd name="adj" fmla="val 3125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010656" y="3163824"/>
            <a:ext cx="2767584" cy="1280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083808" y="3017520"/>
            <a:ext cx="15221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010656" y="3017520"/>
            <a:ext cx="2694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Q4+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083808" y="3319272"/>
            <a:ext cx="262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Scale Deployment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083808" y="3543300"/>
            <a:ext cx="262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Zone-by-zone ward rollout with zero disruption to operating zones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operator training programme delivery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and ICCC integration commissioning</a:t>
            </a:r>
            <a:endParaRPr lang="en-US" sz="900" dirty="0"/>
          </a:p>
          <a:p>
            <a:pPr marL="285750" indent="-285750">
              <a:buSzPct val="100000"/>
              <a:buFont typeface="+mj-lt"/>
              <a:buAutoNum type="romanUcPeriod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ongoing monitoring, reporting, and model retraining cadence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D4E8C-E4BF-FC88-CD05-72E4A311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C8DC5A-4239-26E5-D353-96926B81E2E8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3A84DA-9B8E-CB6F-4FCD-227CC249A3BF}"/>
              </a:ext>
            </a:extLst>
          </p:cNvPr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C7B4A9-BAB9-CFBE-3053-8F4CB6F00F7B}"/>
              </a:ext>
            </a:extLst>
          </p:cNvPr>
          <p:cNvSpPr/>
          <p:nvPr/>
        </p:nvSpPr>
        <p:spPr>
          <a:xfrm>
            <a:off x="347472" y="45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AA5132-C6EE-C6E2-8EA8-0F3911213DE8}"/>
              </a:ext>
            </a:extLst>
          </p:cNvPr>
          <p:cNvSpPr/>
          <p:nvPr/>
        </p:nvSpPr>
        <p:spPr>
          <a:xfrm>
            <a:off x="347472" y="472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 Across Social, Operational, and Environmental Dimensions</a:t>
            </a:r>
            <a:endParaRPr 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FF2EF9-4FE6-EF50-8C30-8883287853DB}"/>
              </a:ext>
            </a:extLst>
          </p:cNvPr>
          <p:cNvSpPr txBox="1"/>
          <p:nvPr/>
        </p:nvSpPr>
        <p:spPr>
          <a:xfrm>
            <a:off x="1121688" y="1058537"/>
            <a:ext cx="6900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“LoRaWAN AI-Powered Digital Twins for Smart Water Distribution Networks"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1400" i="1" dirty="0">
                <a:solidFill>
                  <a:srgbClr val="00B0F0"/>
                </a:solidFill>
              </a:rPr>
              <a:t>IEEE Xplore, Published: May 2025</a:t>
            </a:r>
            <a:endParaRPr lang="en-US" sz="1600" i="1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7C6165-4C59-B400-4A37-B9BB9DE24BC7}"/>
              </a:ext>
            </a:extLst>
          </p:cNvPr>
          <p:cNvSpPr/>
          <p:nvPr/>
        </p:nvSpPr>
        <p:spPr>
          <a:xfrm>
            <a:off x="542568" y="1121663"/>
            <a:ext cx="579120" cy="384810"/>
          </a:xfrm>
          <a:prstGeom prst="roundRect">
            <a:avLst/>
          </a:prstGeom>
          <a:solidFill>
            <a:srgbClr val="0A1628"/>
          </a:solidFill>
          <a:ln>
            <a:solidFill>
              <a:srgbClr val="00B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C768BB-0900-1C3A-9F30-98D99C643736}"/>
              </a:ext>
            </a:extLst>
          </p:cNvPr>
          <p:cNvSpPr/>
          <p:nvPr/>
        </p:nvSpPr>
        <p:spPr>
          <a:xfrm>
            <a:off x="542568" y="1766423"/>
            <a:ext cx="579120" cy="384810"/>
          </a:xfrm>
          <a:prstGeom prst="roundRect">
            <a:avLst/>
          </a:prstGeom>
          <a:solidFill>
            <a:srgbClr val="0A1628"/>
          </a:solidFill>
          <a:ln>
            <a:solidFill>
              <a:srgbClr val="00B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44332C-478D-79B9-8C96-A32FC0737002}"/>
              </a:ext>
            </a:extLst>
          </p:cNvPr>
          <p:cNvSpPr/>
          <p:nvPr/>
        </p:nvSpPr>
        <p:spPr>
          <a:xfrm>
            <a:off x="542568" y="3277073"/>
            <a:ext cx="579120" cy="384810"/>
          </a:xfrm>
          <a:prstGeom prst="roundRect">
            <a:avLst/>
          </a:prstGeom>
          <a:solidFill>
            <a:srgbClr val="0A1628"/>
          </a:solidFill>
          <a:ln>
            <a:solidFill>
              <a:srgbClr val="00B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B1B63A-33B2-07DE-6C83-43323B4AB2E7}"/>
              </a:ext>
            </a:extLst>
          </p:cNvPr>
          <p:cNvSpPr/>
          <p:nvPr/>
        </p:nvSpPr>
        <p:spPr>
          <a:xfrm>
            <a:off x="542568" y="2415068"/>
            <a:ext cx="579120" cy="384810"/>
          </a:xfrm>
          <a:prstGeom prst="roundRect">
            <a:avLst/>
          </a:prstGeom>
          <a:solidFill>
            <a:srgbClr val="0A1628"/>
          </a:solidFill>
          <a:ln>
            <a:solidFill>
              <a:srgbClr val="00B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AE775-8A32-C0EB-90B1-A923368658AA}"/>
              </a:ext>
            </a:extLst>
          </p:cNvPr>
          <p:cNvSpPr txBox="1"/>
          <p:nvPr/>
        </p:nvSpPr>
        <p:spPr>
          <a:xfrm>
            <a:off x="1121688" y="1697955"/>
            <a:ext cx="7115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"IoT Architecture Based Water Resources Conservation Management Using LoRa"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1400" i="1" dirty="0">
                <a:solidFill>
                  <a:srgbClr val="00B0F0"/>
                </a:solidFill>
              </a:rPr>
              <a:t>IEEE Conference Publication, ICSCGE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F2743-6A88-7BF1-B353-5E8F65E4A0A9}"/>
              </a:ext>
            </a:extLst>
          </p:cNvPr>
          <p:cNvSpPr txBox="1"/>
          <p:nvPr/>
        </p:nvSpPr>
        <p:spPr>
          <a:xfrm>
            <a:off x="1121688" y="2342454"/>
            <a:ext cx="64602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"Application-Aware </a:t>
            </a:r>
            <a:r>
              <a:rPr lang="en-US" sz="1400" b="1" dirty="0" err="1">
                <a:solidFill>
                  <a:schemeClr val="bg1"/>
                </a:solidFill>
              </a:rPr>
              <a:t>LoRaWAN</a:t>
            </a:r>
            <a:r>
              <a:rPr lang="en-US" sz="1400" b="1" dirty="0">
                <a:solidFill>
                  <a:schemeClr val="bg1"/>
                </a:solidFill>
              </a:rPr>
              <a:t> Gateway Placement in Massive IoT Water Distribution Networks“</a:t>
            </a:r>
          </a:p>
          <a:p>
            <a:r>
              <a:rPr lang="en-US" sz="1400" i="1" dirty="0">
                <a:solidFill>
                  <a:srgbClr val="00B0F0"/>
                </a:solidFill>
              </a:rPr>
              <a:t>IEEE Xplore, Published: Dec 2024</a:t>
            </a:r>
            <a:endParaRPr lang="en-IN" sz="1400" i="1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D9008-7CBB-71BF-98D5-D22C0CE5CD5B}"/>
              </a:ext>
            </a:extLst>
          </p:cNvPr>
          <p:cNvSpPr txBox="1"/>
          <p:nvPr/>
        </p:nvSpPr>
        <p:spPr>
          <a:xfrm>
            <a:off x="1121688" y="3201811"/>
            <a:ext cx="60030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"AI-Enhanced Digital Twin Platform for Smart Water Distribution: Integrating Machine Learning Models with IoT-Driven Predictive Analytics"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1400" i="1" dirty="0">
                <a:solidFill>
                  <a:srgbClr val="00B0F0"/>
                </a:solidFill>
              </a:rPr>
              <a:t>Preprints/Digital Twins, Published: Oct 2025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8CA79C-B99D-687A-1044-B7A8D969402D}"/>
              </a:ext>
            </a:extLst>
          </p:cNvPr>
          <p:cNvSpPr/>
          <p:nvPr/>
        </p:nvSpPr>
        <p:spPr>
          <a:xfrm>
            <a:off x="542568" y="4161282"/>
            <a:ext cx="579120" cy="384810"/>
          </a:xfrm>
          <a:prstGeom prst="roundRect">
            <a:avLst/>
          </a:prstGeom>
          <a:solidFill>
            <a:srgbClr val="0A1628"/>
          </a:solidFill>
          <a:ln>
            <a:solidFill>
              <a:srgbClr val="00B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028851-845E-8F5B-2647-2451EB6FF107}"/>
              </a:ext>
            </a:extLst>
          </p:cNvPr>
          <p:cNvSpPr txBox="1"/>
          <p:nvPr/>
        </p:nvSpPr>
        <p:spPr>
          <a:xfrm>
            <a:off x="1121688" y="4111753"/>
            <a:ext cx="5903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"IoT Enabled Water Distribution System for Smart Water Management"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1400" i="1" dirty="0">
                <a:solidFill>
                  <a:srgbClr val="00B0F0"/>
                </a:solidFill>
              </a:rPr>
              <a:t>Journal Publication, 2024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3212EE-7582-5796-3BCE-A994651D55AB}"/>
              </a:ext>
            </a:extLst>
          </p:cNvPr>
          <p:cNvSpPr/>
          <p:nvPr/>
        </p:nvSpPr>
        <p:spPr>
          <a:xfrm>
            <a:off x="347472" y="982980"/>
            <a:ext cx="7674840" cy="3793236"/>
          </a:xfrm>
          <a:prstGeom prst="roundRect">
            <a:avLst>
              <a:gd name="adj" fmla="val 2002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330676-4CC8-CCF0-B3DE-002512F5908D}"/>
              </a:ext>
            </a:extLst>
          </p:cNvPr>
          <p:cNvCxnSpPr>
            <a:cxnSpLocks/>
          </p:cNvCxnSpPr>
          <p:nvPr/>
        </p:nvCxnSpPr>
        <p:spPr>
          <a:xfrm>
            <a:off x="542568" y="1641938"/>
            <a:ext cx="7092000" cy="0"/>
          </a:xfrm>
          <a:prstGeom prst="line">
            <a:avLst/>
          </a:prstGeom>
          <a:ln w="31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5DF563-D9A7-7D4C-2BA0-96FBE2258D27}"/>
              </a:ext>
            </a:extLst>
          </p:cNvPr>
          <p:cNvCxnSpPr>
            <a:cxnSpLocks/>
          </p:cNvCxnSpPr>
          <p:nvPr/>
        </p:nvCxnSpPr>
        <p:spPr>
          <a:xfrm>
            <a:off x="542568" y="2282018"/>
            <a:ext cx="7092000" cy="0"/>
          </a:xfrm>
          <a:prstGeom prst="line">
            <a:avLst/>
          </a:prstGeom>
          <a:ln w="31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4AC00B-4EF0-5F46-56E7-4F52CF61981D}"/>
              </a:ext>
            </a:extLst>
          </p:cNvPr>
          <p:cNvCxnSpPr>
            <a:cxnSpLocks/>
          </p:cNvCxnSpPr>
          <p:nvPr/>
        </p:nvCxnSpPr>
        <p:spPr>
          <a:xfrm>
            <a:off x="542568" y="3097358"/>
            <a:ext cx="7092000" cy="0"/>
          </a:xfrm>
          <a:prstGeom prst="line">
            <a:avLst/>
          </a:prstGeom>
          <a:ln w="31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132845-9B24-1C19-3940-3372EDBD344F}"/>
              </a:ext>
            </a:extLst>
          </p:cNvPr>
          <p:cNvCxnSpPr>
            <a:cxnSpLocks/>
          </p:cNvCxnSpPr>
          <p:nvPr/>
        </p:nvCxnSpPr>
        <p:spPr>
          <a:xfrm>
            <a:off x="527664" y="4011758"/>
            <a:ext cx="7092000" cy="0"/>
          </a:xfrm>
          <a:prstGeom prst="line">
            <a:avLst/>
          </a:prstGeom>
          <a:ln w="31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115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1571</Words>
  <Application>Microsoft Office PowerPoint</Application>
  <PresentationFormat>On-screen Show (16:9)</PresentationFormat>
  <Paragraphs>220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EquiFlow – Smart Water Distribution</dc:title>
  <dc:subject>PptxGenJS Presentation</dc:subject>
  <dc:creator>PptxGenJS</dc:creator>
  <cp:lastModifiedBy>Sameer Tambe</cp:lastModifiedBy>
  <cp:revision>6</cp:revision>
  <dcterms:created xsi:type="dcterms:W3CDTF">2026-06-18T11:48:56Z</dcterms:created>
  <dcterms:modified xsi:type="dcterms:W3CDTF">2026-06-18T17:14:13Z</dcterms:modified>
</cp:coreProperties>
</file>